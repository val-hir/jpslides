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960120"/>
            <a:ext cx="1097280" cy="1097280"/>
          </a:xfrm>
          <a:prstGeom prst="roundRect">
            <a:avLst>
              <a:gd name="adj" fmla="val 18333"/>
            </a:avLst>
          </a:prstGeom>
          <a:solidFill>
            <a:srgbClr val="FFFFFF">
              <a:alpha val="55000"/>
            </a:srgbClr>
          </a:solidFill>
          <a:ln/>
          <a:effectLst>
            <a:outerShdw sx="100000" sy="100000" kx="0" ky="0" algn="bl" rotWithShape="0" blurRad="152400" dist="38100" dir="5400000">
              <a:srgbClr val="0A1B3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88152" y="120700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402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300" kern="0" dirty="0">
                <a:solidFill>
                  <a:srgbClr val="C4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TRUST 기반 PC 인증 플랫폼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0" y="2514600"/>
            <a:ext cx="121916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800" kern="0" dirty="0">
                <a:solidFill>
                  <a:srgbClr val="8CC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LESS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4D5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소개서 · Product Introduction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8AB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 SOLUTIONS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8CC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쿠스토 </a:t>
            </a:r>
            <a:pPr algn="ctr" indent="0" marL="0">
              <a:buNone/>
            </a:pPr>
            <a:r>
              <a:rPr lang="en-US" sz="1000" spc="200" kern="0" dirty="0">
                <a:solidFill>
                  <a:srgbClr val="98AB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</a:t>
            </a:r>
            <a:pPr algn="ctr" indent="0" marL="0">
              <a:buNone/>
            </a:pPr>
            <a:r>
              <a:rPr lang="en-US" sz="1000" spc="200" kern="0" dirty="0">
                <a:solidFill>
                  <a:srgbClr val="98AB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WWW.JPSOLU.COM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제안 배경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보안은 강력하게,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업무는 간편하게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CUSTO(쿠스토)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Zero Trust 원칙을 기반으로 통합 인증·접근 통제·행위 분석을 제공하는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융합 보안 플랫폼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모든 IT 업무는 PC에서 시작됩니다. CUSTO는 단순한 로그인을 넘어, 기업의 제로트러스트 보안 철학을 실현하는 가장 확실한 첫걸음입니다.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36576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30083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인증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402336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PC, 웹, 전자결재까지 하나의 인증 매체로 일원화하는 Passwordless 인증.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2697480"/>
            <a:ext cx="36576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30083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53712" y="402336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 DB·AD 연동으로 사용자·단말·시간 기준의 정밀한 접근 권한 통제.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19288" y="2697480"/>
            <a:ext cx="36576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30083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11896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행위 분석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11896" y="402336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인증·접속 이벤트를 기록하고 이상 징후를 상시 검증하는 지속 검증.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제안 배경 · 최근 보안 사고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지금,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Passwordless</a:t>
            </a:r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3657600" cy="416052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3657600" cy="73152"/>
          </a:xfrm>
          <a:prstGeom prst="rect">
            <a:avLst/>
          </a:prstGeom>
          <a:solidFill>
            <a:srgbClr val="9A641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39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9A6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업데이트 소홀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779776"/>
            <a:ext cx="31089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 </a:t>
            </a:r>
            <a:pPr indent="0" marL="0">
              <a:buNone/>
            </a:pPr>
            <a:r>
              <a:rPr lang="en-US" sz="2000" b="1" dirty="0">
                <a:solidFill>
                  <a:srgbClr val="2C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2,324만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186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취약점을 방치, 관리자 계정 해킹 통로가 열려 통신 핵심 정보 유출.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352544"/>
            <a:ext cx="31089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롯데카드  </a:t>
            </a:r>
            <a:pPr indent="0" marL="0">
              <a:buNone/>
            </a:pPr>
            <a:r>
              <a:rPr lang="en-US" sz="2000" b="1" dirty="0">
                <a:solidFill>
                  <a:srgbClr val="2C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7914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정보 297만 명(CVC 포함) 유출.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61104" y="1783080"/>
            <a:ext cx="3657600" cy="416052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1104" y="1783080"/>
            <a:ext cx="3657600" cy="73152"/>
          </a:xfrm>
          <a:prstGeom prst="rect">
            <a:avLst/>
          </a:prstGeom>
          <a:solidFill>
            <a:srgbClr val="9A6412"/>
          </a:solidFill>
          <a:ln/>
        </p:spPr>
      </p:sp>
      <p:sp>
        <p:nvSpPr>
          <p:cNvPr id="18" name="Text 16"/>
          <p:cNvSpPr/>
          <p:nvPr/>
        </p:nvSpPr>
        <p:spPr>
          <a:xfrm>
            <a:off x="4535424" y="2039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9A6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35424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체계 · 인프라 부실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35424" y="2779776"/>
            <a:ext cx="31089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542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 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35424" y="32186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기지국(펨토셀)에 동일 인증서를 사용하는 보안 허점이 드러나며 망 접속 권한 탈취.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35424" y="4352544"/>
            <a:ext cx="31089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 </a:t>
            </a:r>
            <a:pPr indent="0" marL="0">
              <a:buNone/>
            </a:pPr>
            <a:r>
              <a:rPr lang="en-US" sz="2000" b="1" dirty="0">
                <a:solidFill>
                  <a:srgbClr val="2C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3,370만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35424" y="47914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인적 관리 미흡·법규 위반이 겹쳐 3,370만 명 대규모 유출 발생.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19288" y="1783080"/>
            <a:ext cx="3657600" cy="416052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19288" y="1783080"/>
            <a:ext cx="3657600" cy="73152"/>
          </a:xfrm>
          <a:prstGeom prst="rect">
            <a:avLst/>
          </a:prstGeom>
          <a:solidFill>
            <a:srgbClr val="9A6412"/>
          </a:solidFill>
          <a:ln/>
        </p:spPr>
      </p:sp>
      <p:sp>
        <p:nvSpPr>
          <p:cNvPr id="28" name="Text 26"/>
          <p:cNvSpPr/>
          <p:nvPr/>
        </p:nvSpPr>
        <p:spPr>
          <a:xfrm>
            <a:off x="8293608" y="2039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9A6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93608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도용 공격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93608" y="2779776"/>
            <a:ext cx="31089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G마켓  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93608" y="32186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사이트 유출 정보를 무작위 대입하는 크리덴셜 스터핑, 60명 이상 무단 결제 피해.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93608" y="4352544"/>
            <a:ext cx="31089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U+  </a:t>
            </a:r>
            <a:pPr indent="0" marL="0">
              <a:buNone/>
            </a:pPr>
            <a:r>
              <a:rPr lang="en-US" sz="2000" b="1" dirty="0">
                <a:solidFill>
                  <a:srgbClr val="2C6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8,938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93608" y="47914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보안서버(APPM) ID/PW/MFA 유출·해킹, 8,938대 서버·42,000개 계정 및 개인정보 유출.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제안 배경 · 규제 환경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법령 및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정보보안 강화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3200400" cy="41148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11680"/>
            <a:ext cx="2560320" cy="3246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개인정보보호위원회 · 안전성 확보조치 기준 안내서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69080" y="1783080"/>
            <a:ext cx="7619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규제는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대응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상시·지속 검증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이동하고 있습니다. CUSTO는 강화되는 법령 요건을 기본값으로 충족합니다.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69080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25112" y="2743200"/>
            <a:ext cx="7363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 · 안전성 확보조치 기준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‘지속적 검증’ 요구사항 충족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6908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25112" y="3520440"/>
            <a:ext cx="7363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제로트러스트 2.0 가이드라인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신뢰하지 않고 항상 검증하는 원칙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69080" y="4297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25112" y="4297680"/>
            <a:ext cx="7363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국가정보원 사이버보안 기본지침 (26.5.1 시행)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단말 사용기록 보관·AI 보안 요건 충족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69080" y="5074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25112" y="5074920"/>
            <a:ext cx="7363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N2SF 보안 정책 · 금융위 AI 가이드라인 (26.06)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인터넷 업무 보안 환경 요건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제품 소개 동영상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PASSWORDLESS</a:t>
            </a:r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인증, 직접 확인하세요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1976933" cy="310896"/>
          </a:xfrm>
          <a:prstGeom prst="roundRect">
            <a:avLst>
              <a:gd name="adj" fmla="val 17647"/>
            </a:avLst>
          </a:prstGeom>
          <a:solidFill>
            <a:srgbClr val="E7F0F9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19769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PASSWORDLESS PC 로그인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17013" y="1828800"/>
            <a:ext cx="1708099" cy="310896"/>
          </a:xfrm>
          <a:prstGeom prst="roundRect">
            <a:avLst>
              <a:gd name="adj" fmla="val 17647"/>
            </a:avLst>
          </a:prstGeom>
          <a:solidFill>
            <a:srgbClr val="E7F0F9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7013" y="1828800"/>
            <a:ext cx="17080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TOKEN 방식 로그인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로그인부터 Web 포털까지,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인증 흐름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이어지는 CUSTO 인증 과정을 영상으로 확인할 수 있습니다.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5760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3703320"/>
            <a:ext cx="548640" cy="548640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3" name="Shape 11"/>
          <p:cNvSpPr/>
          <p:nvPr/>
        </p:nvSpPr>
        <p:spPr>
          <a:xfrm rot="5400000">
            <a:off x="905256" y="3831336"/>
            <a:ext cx="274320" cy="29260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5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→ WEB 포털 인증 영상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youtu.be/LbF7i0WbyHk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4922215" cy="4023360"/>
          </a:xfrm>
          <a:prstGeom prst="roundRect">
            <a:avLst>
              <a:gd name="adj" fmla="val 2045"/>
            </a:avLst>
          </a:prstGeom>
          <a:solidFill>
            <a:srgbClr val="1E4A7C"/>
          </a:solidFill>
          <a:ln w="12700">
            <a:solidFill>
              <a:srgbClr val="BFCFE1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828800"/>
            <a:ext cx="4922215" cy="384048"/>
          </a:xfrm>
          <a:prstGeom prst="rect">
            <a:avLst/>
          </a:prstGeom>
          <a:solidFill>
            <a:srgbClr val="173A63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828800"/>
            <a:ext cx="4556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EB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· Passwordless Authentication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24748" y="3429000"/>
            <a:ext cx="1005840" cy="1005840"/>
          </a:xfrm>
          <a:prstGeom prst="ellipse">
            <a:avLst/>
          </a:prstGeom>
          <a:solidFill>
            <a:srgbClr val="2E6FB0"/>
          </a:solidFill>
          <a:ln w="76200">
            <a:solidFill>
              <a:srgbClr val="6FA6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9081364" y="3703320"/>
            <a:ext cx="457200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525780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FD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PC → WEB 포털 인증 영상 재생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도입 기대 효과 (1 / 3)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간편하게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37360"/>
            <a:ext cx="3657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933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PASSWORD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이상 암호를 입력하지 않아도 됩니다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 입력 없이 인증 매체만으로 PC에 로그인합니다.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1104" y="1737360"/>
            <a:ext cx="3657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35424" y="19933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ROTATION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35424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3개월마다 변경하지 않아도 됩니다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 비밀번호 변경 정책에서 완전히 벗어납니다.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9288" y="1737360"/>
            <a:ext cx="3657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3608" y="19933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93608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신분증 · 생체 · 휴대폰으로 로그인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 1 인증 매체로 간편하게 PC를 사용합니다.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041648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3159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" y="4315968"/>
            <a:ext cx="4864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PC에서도, 외부에서도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인증 매체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PC 로그인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4041648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64808" y="43159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315968"/>
            <a:ext cx="4864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로그인 후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· 전자결재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동일 인증 매체로 승인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1206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 인증 매체(신분증·휴대폰) 분실 시 즉시 관리자에게 연락하세요. 인증 매체 관리 책임은 본인에게 있습니다.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도입 기대 효과 (2 / 3)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강력하게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매체 관리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인증 매체 발급·회수·분실 처리를 중앙에서 통제합니다. 퇴사·보직 변경 즉시 권한을 반영합니다.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874520"/>
            <a:ext cx="36576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22402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1144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81144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사용 관리정책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81144" y="3657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시간·접속 위치·사용자 그룹 기준의 정책을 정의하고, 위반 시 자동으로 통제·기록합니다.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19288" y="1874520"/>
            <a:ext cx="36576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9328" y="22402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39328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PER-DEVICE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39328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별 보안정책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9328" y="3657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단위로 서로 다른 보안 등급과 인증 강도를 적용합니다. 개인용·공용·폐쇄망 환경을 구분 관리합니다.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도입 효과 요약 (3 / 3)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전후 비교 ·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933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준수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ID/PW 인증 제거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개인정보보호법·제로트러스트 2.0 ‘지속적 검증’ 요구사항 충족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081528"/>
            <a:ext cx="49377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검증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국가정보원 사이버보안 지침(26.5.1) 단말 사용기록 보관·AI 보안 요건 충족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173736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19933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76872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강화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3952" y="2560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탈취 원천 차단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비밀번호를 난수화하여 탈취 시도를 원천 차단하고 관리 부하 해소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73952" y="3081528"/>
            <a:ext cx="49377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1272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사용 무결성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이탈 시 즉시 자동 잠금 / 공용 PC 사용 시 타 직원 세션까지 강제 종료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42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연속성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 구현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OIDC 인증 연동으로 PC 로그인 한 번에 사내 웹·앱까지 동일 인증으로 접속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5230368"/>
            <a:ext cx="49377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760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일반망 오프라인 및 폐쇄망(온프레미스) 지원으로 네트워크 단절 시에도 업무 보장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9632" y="38862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73952" y="4142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CFE0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76872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효율화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3952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관리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국내·해외 사업장 PC를 중앙에서 관리 가능한 인증 체계로 보안 및 업무 안정성 확보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73952" y="5230368"/>
            <a:ext cx="493776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52760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공간 보안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운항·객실·정비·교육장 등 개방 공간에서 이탈 시 즉시 자동 잠금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제품 소개 (1) · PASSWORD LESS 업무환경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인증 ·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인증</a:t>
            </a:r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사용 환경에 따른 인증 방식으로 안전한 Zero Trust를 구현합니다.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492301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2880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65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· 단일 인증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인증 PC 로그인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인증 매체로 즉시 로그인하는 기본 방식.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017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· 복합 인증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2644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카드 + 생체 인증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카드 태깅 후 지정맥 등 생체 인증으로 2단계 검증.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06908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· 복합 인증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43159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카드 + 스마트폰 (OTP / FIDO)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카드 + 스마트폰 OTP·FIDO로 강력한 다중 인증.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074920"/>
            <a:ext cx="722376" cy="310896"/>
          </a:xfrm>
          <a:prstGeom prst="roundRect">
            <a:avLst>
              <a:gd name="adj" fmla="val 17647"/>
            </a:avLst>
          </a:prstGeom>
          <a:solidFill>
            <a:srgbClr val="E7F0F9"/>
          </a:solidFill>
          <a:ln w="12700">
            <a:solidFill>
              <a:srgbClr val="BF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74920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시연 영상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5074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youtu.be/ai1qXZ9XISg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1828800"/>
            <a:ext cx="23774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874520"/>
            <a:ext cx="2286000" cy="11155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122408" y="2194560"/>
            <a:ext cx="1566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 인증 방식 선택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635240" y="3200400"/>
            <a:ext cx="23774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3246120"/>
            <a:ext cx="2286000" cy="11155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122408" y="3566160"/>
            <a:ext cx="1566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 카드 리더기 태깅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635240" y="4572000"/>
            <a:ext cx="23774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80960" y="4617720"/>
            <a:ext cx="2286000" cy="11155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122408" y="4937760"/>
            <a:ext cx="1566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 생체 인증 완료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제품 소개 (2) · 인증매체 적용 확장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 · 포탈 · 전자결재 ·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 연동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인증을 보완하는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인증 방식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로그인 사용자 = Web · 결재 인증 사용자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단일/복합 인증 단계별로 추가 인증을 적용해 보안을 강화합니다.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706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로그인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매체(카드·생체·휴대폰)로 Passwordless PC 로그인.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19474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81348" y="251460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5668" y="27706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55668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SSO 로그인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55668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OIDC 연동으로 사내 웹·포탈·업무 시스템에 동일 인증으로 접속.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97901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59775" y="2514600"/>
            <a:ext cx="34290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34095" y="27706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34095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전자결재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34095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인증으로 전자결재까지 승인, 세션 인증을 보완하는 강력한 무결성.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736092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501548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4892040"/>
            <a:ext cx="4800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 연동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76172" y="4892040"/>
            <a:ext cx="832104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501548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6" name="Text 24"/>
          <p:cNvSpPr/>
          <p:nvPr/>
        </p:nvSpPr>
        <p:spPr>
          <a:xfrm>
            <a:off x="1595628" y="489204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포탈 SSO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45436" y="4892040"/>
            <a:ext cx="640080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5164" y="501548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9" name="Text 27"/>
          <p:cNvSpPr/>
          <p:nvPr/>
        </p:nvSpPr>
        <p:spPr>
          <a:xfrm>
            <a:off x="2564892" y="489204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전자결재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22676" y="4892040"/>
            <a:ext cx="1120140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2404" y="501548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32" name="Text 30"/>
          <p:cNvSpPr/>
          <p:nvPr/>
        </p:nvSpPr>
        <p:spPr>
          <a:xfrm>
            <a:off x="3342132" y="4892040"/>
            <a:ext cx="8641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추가 인증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제품 소개 (3) · 개인용 · 공용 PC 관리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개인용 PC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 Device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3736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93392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EEF4FA"/>
          </a:solidFill>
          <a:ln w="12700">
            <a:solidFill>
              <a:srgbClr val="148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2116836"/>
            <a:ext cx="73152" cy="73152"/>
          </a:xfrm>
          <a:prstGeom prst="ellipse">
            <a:avLst/>
          </a:prstGeom>
          <a:solidFill>
            <a:srgbClr val="14855A"/>
          </a:solidFill>
          <a:ln/>
        </p:spPr>
      </p:sp>
      <p:sp>
        <p:nvSpPr>
          <p:cNvPr id="9" name="Text 7"/>
          <p:cNvSpPr/>
          <p:nvPr/>
        </p:nvSpPr>
        <p:spPr>
          <a:xfrm>
            <a:off x="1014984" y="1993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사원증 태깅 또는 생체 인증 후 SSO 연동 접속 지원. 상시 네트워크 환경에서 통합 인증으로 업무 시스템에 진입합니다.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4937760" cy="777240"/>
          </a:xfrm>
          <a:prstGeom prst="roundRect">
            <a:avLst>
              <a:gd name="adj" fmla="val 10588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3611880"/>
            <a:ext cx="4572000" cy="5943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99632" y="173736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73952" y="1993392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EEF4FA"/>
          </a:solidFill>
          <a:ln w="12700">
            <a:solidFill>
              <a:srgbClr val="3E6E9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2116836"/>
            <a:ext cx="73152" cy="73152"/>
          </a:xfrm>
          <a:prstGeom prst="ellipse">
            <a:avLst/>
          </a:prstGeom>
          <a:solidFill>
            <a:srgbClr val="3E6E9E"/>
          </a:solidFill>
          <a:ln/>
        </p:spPr>
      </p:sp>
      <p:sp>
        <p:nvSpPr>
          <p:cNvPr id="16" name="Text 13"/>
          <p:cNvSpPr/>
          <p:nvPr/>
        </p:nvSpPr>
        <p:spPr>
          <a:xfrm>
            <a:off x="6711696" y="1993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· 폐쇄망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73952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재택 등으로 네트워크가 단절되어도 PIN 코드 또는 신분증·생체 인증 매체로 중단 없는 로컬 로그인을 지원합니다.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73952" y="3520440"/>
            <a:ext cx="4937760" cy="777240"/>
          </a:xfrm>
          <a:prstGeom prst="roundRect">
            <a:avLst>
              <a:gd name="adj" fmla="val 10588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56832" y="3611880"/>
            <a:ext cx="457200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2920" y="4709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58952" y="4709160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ID/PW 관리 해소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윈도우 비밀번호 암호화 은닉, 유출·분실 리스크 제거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261104" y="4709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17136" y="4709160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개선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인사 DB·AD 연동, 보직 변경 즉시 권한 통제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8019288" y="4709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275320" y="4709160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연속성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장소·네트워크 상태와 무관한 일관된 인증(지속검증)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제품 소개 (4) · AI 보안 인프라 시스템 연동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N2SF 기반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업무 보안 환경</a:t>
            </a:r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(RBI)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 Remote Browser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웹 격리(RBI) 기반으로 내부망과 인터넷·AI 서비스를 안전하게 분리합니다.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N2SF 보안 정책 제도화(국가 사이버보안 기본지침 5월 시행)와 금융위 AI 가이드라인(26.06)을 기반으로, 인증 매체 적용을 인터넷 업무 보안 환경까지 확장합니다.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928116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391820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794760"/>
            <a:ext cx="672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격리 기반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49908" y="3794760"/>
            <a:ext cx="832104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9636" y="391820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3" name="Text 11"/>
          <p:cNvSpPr/>
          <p:nvPr/>
        </p:nvSpPr>
        <p:spPr>
          <a:xfrm>
            <a:off x="1769364" y="379476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내부망 분리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00884" y="3794760"/>
            <a:ext cx="832104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0612" y="391820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6" name="Text 14"/>
          <p:cNvSpPr/>
          <p:nvPr/>
        </p:nvSpPr>
        <p:spPr>
          <a:xfrm>
            <a:off x="2720340" y="379476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51860" y="3794760"/>
            <a:ext cx="1408176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1588" y="391820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9" name="Text 17"/>
          <p:cNvSpPr/>
          <p:nvPr/>
        </p:nvSpPr>
        <p:spPr>
          <a:xfrm>
            <a:off x="3671316" y="3794760"/>
            <a:ext cx="11521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Whitelist 제어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783080"/>
            <a:ext cx="4922215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2011680"/>
            <a:ext cx="4373575" cy="12344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766560" y="3657600"/>
            <a:ext cx="4922215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40880" y="3977640"/>
            <a:ext cx="1280160" cy="1463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50392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BIOMETRIC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0392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지정맥 생체 인증 연동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50392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RBI 접속 시에도 동일 인증 매체로 강력한 신원 확인.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제품 소개 (5) · 공용 PC 외부 인원 사용 통제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인원 PC 사용,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통제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 의한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외부인의 PC 사용 통제 및 기록 관리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방문·점검·협력 인력의 접근을 승인 기반으로 관리하고 전 과정을 기록합니다.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요청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1363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인원 접근 요청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협력사·점검 인력이 공용 PC 사용을 요청합니다.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17037" y="32004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2858" y="26060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91458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승인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91458" y="31363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승인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91458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담당자가 사용 목적·범위·시간을 승인합니다.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6976" y="32004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2797" y="26060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51397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사용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51397" y="31363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사용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51397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범위·시간 내에서만 PC를 사용합니다.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36914" y="32004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82735" y="26060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11335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기록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11335" y="31363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기록 관리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11335" y="36576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접속·행위 전 과정이 감사 로그로 자동 보관됩니다.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제품 소개 (6) · MANAGER SYSTEM UI / UX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관제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3108960" cy="338328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283464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257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LOGIN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5486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 Less Manager System, 관리자 로그인 통제부터 정책 배포까지 단일 콘솔에서 운영합니다.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86200" y="1783080"/>
            <a:ext cx="7802575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95928" y="1892808"/>
            <a:ext cx="7583119" cy="329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886200" y="5486400"/>
            <a:ext cx="1120140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95928" y="560984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4" name="Text 10"/>
          <p:cNvSpPr/>
          <p:nvPr/>
        </p:nvSpPr>
        <p:spPr>
          <a:xfrm>
            <a:off x="4105656" y="5486400"/>
            <a:ext cx="8641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사용 현황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125212" y="5486400"/>
            <a:ext cx="736092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34940" y="560984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7" name="Text 13"/>
          <p:cNvSpPr/>
          <p:nvPr/>
        </p:nvSpPr>
        <p:spPr>
          <a:xfrm>
            <a:off x="5344668" y="5486400"/>
            <a:ext cx="4800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통계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980176" y="5486400"/>
            <a:ext cx="736092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560984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0" name="Text 16"/>
          <p:cNvSpPr/>
          <p:nvPr/>
        </p:nvSpPr>
        <p:spPr>
          <a:xfrm>
            <a:off x="6199632" y="5486400"/>
            <a:ext cx="4800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배포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835140" y="5486400"/>
            <a:ext cx="736092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44868" y="5609844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3" name="Text 19"/>
          <p:cNvSpPr/>
          <p:nvPr/>
        </p:nvSpPr>
        <p:spPr>
          <a:xfrm>
            <a:off x="7054596" y="5486400"/>
            <a:ext cx="4800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제품 소개 (7 · 8) · EVENT LOG · 운용 기능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사용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로그 · 운용 리포트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사용 </a:t>
            </a:r>
            <a:pPr indent="0" marL="0"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Log</a:t>
            </a:r>
            <a:pPr indent="0" marL="0"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buNone/>
            </a:pPr>
            <a:r>
              <a:rPr lang="en-US" sz="14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Manager 운용 기능</a:t>
            </a:r>
            <a:pPr indent="0" marL="0">
              <a:buNone/>
            </a:pPr>
            <a:r>
              <a:rPr lang="en-US" sz="140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근태·보안 현황을 한눈에 파악합니다.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5855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286000"/>
            <a:ext cx="10911535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892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8952" y="4892040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사용 시간 Report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사용자별 총 사용 시간·그래프 제공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61104" y="4892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17136" y="4892040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외 근무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 붉은색으로, 외근·미사용 시간도 구분 표시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19288" y="4892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75320" y="4892040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대응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모든 인증·접속 이벤트를 로그로 보관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지원 인증 매체 &amp; 악세사리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쿠스토(CUSTO) 지원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매체 &amp; 악세사리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환경과 보안 등급에 맞춰 다양한 인증 매체를 선택: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64208"/>
            <a:ext cx="736092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73168" y="1787652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9" name="Text 7"/>
          <p:cNvSpPr/>
          <p:nvPr/>
        </p:nvSpPr>
        <p:spPr>
          <a:xfrm>
            <a:off x="4882896" y="1664208"/>
            <a:ext cx="4800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카드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09260" y="1664208"/>
            <a:ext cx="928116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8988" y="1787652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2" name="Text 10"/>
          <p:cNvSpPr/>
          <p:nvPr/>
        </p:nvSpPr>
        <p:spPr>
          <a:xfrm>
            <a:off x="5728716" y="1664208"/>
            <a:ext cx="672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지정맥(생체)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47104" y="1664208"/>
            <a:ext cx="544068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1787652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664208"/>
            <a:ext cx="2880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00900" y="1664208"/>
            <a:ext cx="640080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0628" y="1787652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18" name="Text 16"/>
          <p:cNvSpPr/>
          <p:nvPr/>
        </p:nvSpPr>
        <p:spPr>
          <a:xfrm>
            <a:off x="7420356" y="166420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0708" y="1664208"/>
            <a:ext cx="544068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0436" y="1787652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1" name="Text 19"/>
          <p:cNvSpPr/>
          <p:nvPr/>
        </p:nvSpPr>
        <p:spPr>
          <a:xfrm>
            <a:off x="8170164" y="1664208"/>
            <a:ext cx="2880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04504" y="1664208"/>
            <a:ext cx="544068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14232" y="1787652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1664208"/>
            <a:ext cx="2880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신분증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258300" y="1664208"/>
            <a:ext cx="640080" cy="301752"/>
          </a:xfrm>
          <a:prstGeom prst="roundRect">
            <a:avLst>
              <a:gd name="adj" fmla="val 48485"/>
            </a:avLst>
          </a:prstGeom>
          <a:solidFill>
            <a:srgbClr val="EEF4FA"/>
          </a:solidFill>
          <a:ln w="12700">
            <a:solidFill>
              <a:srgbClr val="D2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68028" y="1787652"/>
            <a:ext cx="54864" cy="54864"/>
          </a:xfrm>
          <a:prstGeom prst="ellipse">
            <a:avLst/>
          </a:prstGeom>
          <a:solidFill>
            <a:srgbClr val="2E6FB0"/>
          </a:solidFill>
          <a:ln/>
        </p:spPr>
      </p:sp>
      <p:sp>
        <p:nvSpPr>
          <p:cNvPr id="27" name="Text 25"/>
          <p:cNvSpPr/>
          <p:nvPr/>
        </p:nvSpPr>
        <p:spPr>
          <a:xfrm>
            <a:off x="9477756" y="166420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2286000"/>
            <a:ext cx="2121408" cy="36576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2423160"/>
            <a:ext cx="1847088" cy="123444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" y="2542032"/>
            <a:ext cx="1609344" cy="10058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85800" y="376732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RFID · SMART PHONE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85800" y="3977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거치 리더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85800" y="43708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카드리더 내장 (HID Global) · 신분증/스마트폰 NFC · USB-A 2ea, USB-C 1ea 고속충전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69032" y="2286000"/>
            <a:ext cx="2121408" cy="36576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906192" y="2423160"/>
            <a:ext cx="1847088" cy="123444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25064" y="2542032"/>
            <a:ext cx="1609344" cy="10058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2951912" y="376732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BIOMETRIC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951912" y="3977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지정맥 리더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2951912" y="43708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1초 이내 인증 (1:1 / 1:N) · 2,000 지정맥 등록 · 제조사 ㈜코리센 (62×80×56mm)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035144" y="2286000"/>
            <a:ext cx="2121408" cy="36576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5172304" y="2423160"/>
            <a:ext cx="1847088" cy="123444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91176" y="2542032"/>
            <a:ext cx="1609344" cy="100584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218024" y="376732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READER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5218024" y="3977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RFID / NFC 리더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5218024" y="43708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신분증 사용 가능 · 13.56MHz (14443 A/B, 15693) · HID Global (59×59×11.4mm)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7301255" y="2286000"/>
            <a:ext cx="2121408" cy="36576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7438415" y="2423160"/>
            <a:ext cx="1847088" cy="123444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57287" y="2542032"/>
            <a:ext cx="1609344" cy="100584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484135" y="376732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 · FIDO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7484135" y="3977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OTP (토큰/Push/UMS)</a:t>
            </a:r>
            <a:endParaRPr lang="en-US" sz="1250" dirty="0"/>
          </a:p>
        </p:txBody>
      </p:sp>
      <p:sp>
        <p:nvSpPr>
          <p:cNvPr id="51" name="Text 45"/>
          <p:cNvSpPr/>
          <p:nvPr/>
        </p:nvSpPr>
        <p:spPr>
          <a:xfrm>
            <a:off x="7484135" y="43708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운용매체 연동 · E-Mail OTP 기본 제공 · Time Sync 방식 OTP 지원 (Off-Line)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9567367" y="2286000"/>
            <a:ext cx="2121408" cy="36576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9704527" y="2423160"/>
            <a:ext cx="1847088" cy="123444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823399" y="2542032"/>
            <a:ext cx="1609344" cy="100584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9750247" y="376732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endParaRPr lang="en-US" sz="750" dirty="0"/>
          </a:p>
        </p:txBody>
      </p:sp>
      <p:sp>
        <p:nvSpPr>
          <p:cNvPr id="56" name="Text 49"/>
          <p:cNvSpPr/>
          <p:nvPr/>
        </p:nvSpPr>
        <p:spPr>
          <a:xfrm>
            <a:off x="9750247" y="3977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RFID 카드포켓</a:t>
            </a:r>
            <a:endParaRPr lang="en-US" sz="1250" dirty="0"/>
          </a:p>
        </p:txBody>
      </p:sp>
      <p:sp>
        <p:nvSpPr>
          <p:cNvPr id="57" name="Text 50"/>
          <p:cNvSpPr/>
          <p:nvPr/>
        </p:nvSpPr>
        <p:spPr>
          <a:xfrm>
            <a:off x="9750247" y="4370832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신분증 거치용 · 고객사 로고 실크인쇄 · 최소 100ea · HID Global 리더 전용</a:t>
            </a:r>
            <a:endParaRPr lang="en-US" sz="900" dirty="0"/>
          </a:p>
        </p:txBody>
      </p:sp>
      <p:sp>
        <p:nvSpPr>
          <p:cNvPr id="58" name="Text 51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도입 사례 (1 / 2)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검증된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사례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039112"/>
            <a:ext cx="1371600" cy="640080"/>
          </a:xfrm>
          <a:prstGeom prst="roundRect">
            <a:avLst>
              <a:gd name="adj" fmla="val 1285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148840"/>
            <a:ext cx="115214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LG에너지솔루션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28600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제조 · MES · 폐쇄망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필요성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공장 생산설비 시스템 장애 발생 (폐쇄망)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원격 접속용 공용 PC 접속을 통한 장애로 접속 로그 확인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사용자와 Application 사용자 확인 불가로 문제 해결 필요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" y="4617720"/>
            <a:ext cx="301752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709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4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도입효과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신분증·방문신분증을 통한 폐쇄망 내 PC 사용자 인증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내부인원(1,500명)·방문자(외주/방문점검) 대상 공용 PC 접속 기록 관리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12768" y="178308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68800" y="2039112"/>
            <a:ext cx="1371600" cy="640080"/>
          </a:xfrm>
          <a:prstGeom prst="roundRect">
            <a:avLst>
              <a:gd name="adj" fmla="val 1285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8528" y="2148840"/>
            <a:ext cx="115214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95848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한국전력공사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095848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 · 전산센터 · DR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587088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필요성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87088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전산센터 / DR센터 방문 점검용 PC 실시간 사용자 모니터링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방문기록 수기 관리 → 전산화 관리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87088" y="4206240"/>
            <a:ext cx="301752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87088" y="4297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4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도입효과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87088" y="4572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방문신분증을 통한 폐쇄망 내 PC 사용자 인증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인원에 대한 PC 사용 계정관리 및 사용기록 관리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122615" y="178308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78647" y="2039112"/>
            <a:ext cx="1371600" cy="640080"/>
          </a:xfrm>
          <a:prstGeom prst="roundRect">
            <a:avLst>
              <a:gd name="adj" fmla="val 1285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8375" y="2148840"/>
            <a:ext cx="1152144" cy="42062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905695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방위사업청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9905695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 · 접근통제 · 교육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396935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필요성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396935" y="315468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지정된 사용자의 개인 PC·공용 PC 대상 사용통제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에러율 최저 인증매체 적용 (공무원신분증)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수집 최소화, PC 사용 기록 보관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잦은 인사 이동에 따른 PC 인증 통제 관리 용이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396935" y="4892040"/>
            <a:ext cx="301752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396935" y="4983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4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도입효과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396935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 사용중인 출입신분증을 통한 교육용 PC 사용통제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참석 출석 확인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도입 사례 (2 / 2)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검증된 </a:t>
            </a:r>
            <a:pPr indent="0" marL="0">
              <a:buNone/>
            </a:pPr>
            <a:r>
              <a:rPr lang="en-US" sz="2700" b="1" dirty="0">
                <a:solidFill>
                  <a:srgbClr val="2C6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사례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777240" cy="41148"/>
          </a:xfrm>
          <a:prstGeom prst="rect">
            <a:avLst/>
          </a:prstGeom>
          <a:solidFill>
            <a:srgbClr val="2E6FB0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382573"/>
            <a:ext cx="10408615" cy="18288"/>
          </a:xfrm>
          <a:prstGeom prst="rect">
            <a:avLst/>
          </a:prstGeom>
          <a:solidFill>
            <a:srgbClr val="D2DEE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039112"/>
            <a:ext cx="1371600" cy="640080"/>
          </a:xfrm>
          <a:prstGeom prst="roundRect">
            <a:avLst>
              <a:gd name="adj" fmla="val 1285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148840"/>
            <a:ext cx="115214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양천구청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28600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 · 개인정보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필요성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취급자의 접속 기록 관리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 승인 및 지속적인 신원검증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로그인 비밀번호 공유 방지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" y="4434840"/>
            <a:ext cx="301752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526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4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도입효과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48006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처리자의 업무 시스템 부정 접근을 원천 차단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로그인 단계와 비밀번호 관리 보안 강화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12768" y="178308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68800" y="2039112"/>
            <a:ext cx="1371600" cy="640080"/>
          </a:xfrm>
          <a:prstGeom prst="roundRect">
            <a:avLst>
              <a:gd name="adj" fmla="val 1285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8528" y="2148840"/>
            <a:ext cx="115214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95848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한국도로공사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095848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 · 제로트러스트 2.0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587088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필요성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87088" y="31546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 기준 제로트러스트 2.0 최적화 모델에 따른 방문자 PC 사용 통제 및 증빙 필요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사업 지정맥 인증 개선방안 제시 (감독관 상주 필요)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87088" y="4434840"/>
            <a:ext cx="301752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87088" y="4526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4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도입효과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87088" y="48006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방문신분증 사용 외부 방문자 PC 사용 통제 및 기록 관리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감독자 상주 부담 절감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122615" y="178308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2DEEC"/>
            </a:solidFill>
            <a:prstDash val="solid"/>
          </a:ln>
          <a:effectLst>
            <a:outerShdw sx="100000" sy="100000" kx="0" ky="0" algn="bl" rotWithShape="0" blurRad="114300" dist="25400" dir="5400000">
              <a:srgbClr val="8FA6C0">
                <a:alpha val="2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78647" y="2039112"/>
            <a:ext cx="1371600" cy="640080"/>
          </a:xfrm>
          <a:prstGeom prst="roundRect">
            <a:avLst>
              <a:gd name="adj" fmla="val 12857"/>
            </a:avLst>
          </a:prstGeom>
          <a:solidFill>
            <a:srgbClr val="F4F8FC"/>
          </a:solidFill>
          <a:ln w="12700">
            <a:solidFill>
              <a:srgbClr val="D2DEE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8375" y="2148840"/>
            <a:ext cx="1152144" cy="42062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905695" y="2075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D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티웨이항공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9905695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항공 · 시뮬레이터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396935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2C6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필요성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396935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항공운항 시뮬레이터 교육 훈련 시간 확인 및 국토부 결과 통보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조종사 외 시뮬레이터 사용 통제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396935" y="4206240"/>
            <a:ext cx="3017520" cy="0"/>
          </a:xfrm>
          <a:prstGeom prst="line">
            <a:avLst/>
          </a:prstGeom>
          <a:noFill/>
          <a:ln w="12700">
            <a:solidFill>
              <a:srgbClr val="D2DEE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396935" y="4297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4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도입효과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396935" y="4572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조종사 신분증 Stay 방식으로 시뮬레이터 사용 시간 기록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입/퇴사 조종사 시뮬레이터 사용권한 통제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55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승무원 운항기록 확인 전용 단말 PC 사용 통제 및 기록관리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  ·  Passwordless Platform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9677095" y="6419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00" kern="0" dirty="0">
                <a:solidFill>
                  <a:srgbClr val="626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1463040"/>
            <a:ext cx="1097280" cy="1097280"/>
          </a:xfrm>
          <a:prstGeom prst="roundRect">
            <a:avLst>
              <a:gd name="adj" fmla="val 18333"/>
            </a:avLst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88152" y="170992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889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38862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600" kern="0" dirty="0">
                <a:solidFill>
                  <a:srgbClr val="8CC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B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제품문의   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02-6269-5679    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jp@jpsolu.com    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www.jpsolu.com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2026-07-18T05:19:00Z</dcterms:created>
  <dcterms:modified xsi:type="dcterms:W3CDTF">2026-07-18T05:19:00Z</dcterms:modified>
</cp:coreProperties>
</file>